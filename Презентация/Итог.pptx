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10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98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613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02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1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66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03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84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4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35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4755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85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7503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21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046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8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93A9F-7747-4FDD-AA88-14FD308FCA2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7699FC-900A-4FE7-A415-987710C3C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91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124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ПМ 11 Разработка</a:t>
            </a:r>
            <a:r>
              <a:rPr lang="en-US" dirty="0" smtClean="0"/>
              <a:t>,</a:t>
            </a:r>
            <a:r>
              <a:rPr lang="ru-RU" dirty="0" smtClean="0"/>
              <a:t> администрирование и защита баз данных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0669" y="2599715"/>
            <a:ext cx="9144000" cy="1655762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Тема: «Учёт муниципального имущества (аренда помещений)»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4920400"/>
            <a:ext cx="5650523" cy="17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</a:pPr>
            <a:r>
              <a:rPr lang="ru-RU" sz="2000" dirty="0"/>
              <a:t>Руководитель практики от организации: </a:t>
            </a:r>
            <a:r>
              <a:rPr lang="ru-RU" sz="2000" dirty="0" err="1"/>
              <a:t>Зязин</a:t>
            </a:r>
            <a:r>
              <a:rPr lang="ru-RU" sz="2000" dirty="0"/>
              <a:t> Сергей Валерьевич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</a:pPr>
            <a:r>
              <a:rPr lang="ru-RU" sz="2000" dirty="0"/>
              <a:t>Руководитель практики от колледжа: Махнев Александр Анатольевич</a:t>
            </a: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4128977"/>
            <a:ext cx="4727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</a:pPr>
            <a:r>
              <a:rPr lang="ru-RU" sz="2000" dirty="0" smtClean="0"/>
              <a:t>Выполнил: </a:t>
            </a:r>
            <a:r>
              <a:rPr lang="ru-RU" sz="2000" dirty="0" err="1" smtClean="0"/>
              <a:t>Кибардин</a:t>
            </a:r>
            <a:r>
              <a:rPr lang="ru-RU" sz="2000" dirty="0" smtClean="0"/>
              <a:t> Владимир Михайлович Студент группы: 23п-1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66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предметной области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406769" y="1588449"/>
            <a:ext cx="85549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Назначение системы:</a:t>
            </a:r>
          </a:p>
          <a:p>
            <a:r>
              <a:rPr lang="ru-RU" dirty="0" smtClean="0"/>
              <a:t>Процесс </a:t>
            </a:r>
            <a:r>
              <a:rPr lang="ru-RU" dirty="0"/>
              <a:t>учёта муниципального имущества, сдаваемого в аренду, в администрации муниципального образования «Город Слободской» Кировской области.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406769" y="3288323"/>
            <a:ext cx="40532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Основные сущности: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Объекты муниципального имущества </a:t>
            </a:r>
            <a:endParaRPr lang="ru-RU" dirty="0" smtClean="0"/>
          </a:p>
          <a:p>
            <a:pPr marL="342900" indent="-342900">
              <a:buFont typeface="+mj-lt"/>
              <a:buAutoNum type="arabicParenR"/>
            </a:pPr>
            <a:r>
              <a:rPr lang="ru-RU" dirty="0" smtClean="0"/>
              <a:t>Арендаторы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Договоры аренды </a:t>
            </a:r>
            <a:endParaRPr lang="ru-RU" dirty="0" smtClean="0"/>
          </a:p>
          <a:p>
            <a:pPr marL="342900" indent="-342900">
              <a:buFont typeface="+mj-lt"/>
              <a:buAutoNum type="arabicParenR"/>
            </a:pPr>
            <a:r>
              <a:rPr lang="ru-RU" dirty="0" smtClean="0"/>
              <a:t>Платежи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Сотрудники</a:t>
            </a:r>
          </a:p>
        </p:txBody>
      </p:sp>
    </p:spTree>
    <p:extLst>
      <p:ext uri="{BB962C8B-B14F-4D97-AF65-F5344CB8AC3E}">
        <p14:creationId xmlns:p14="http://schemas.microsoft.com/office/powerpoint/2010/main" val="178906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5055" y="615318"/>
            <a:ext cx="8911687" cy="1280890"/>
          </a:xfrm>
        </p:spPr>
        <p:txBody>
          <a:bodyPr/>
          <a:lstStyle/>
          <a:p>
            <a:r>
              <a:rPr lang="ru-RU" dirty="0" smtClean="0"/>
              <a:t>Цели и Задачи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547446" y="1617784"/>
            <a:ext cx="758776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Цель работы: </a:t>
            </a:r>
            <a:endParaRPr lang="ru-RU" sz="2400" dirty="0" smtClean="0"/>
          </a:p>
          <a:p>
            <a:r>
              <a:rPr lang="ru-RU" dirty="0"/>
              <a:t>С</a:t>
            </a:r>
            <a:r>
              <a:rPr lang="ru-RU" dirty="0" smtClean="0"/>
              <a:t>проектировать </a:t>
            </a:r>
            <a:r>
              <a:rPr lang="ru-RU" dirty="0"/>
              <a:t>и разработать реляционную базу данных для учёта муниципального имущества, сдаваемого в аренду, а также создать программное приложение для работы с этой базой данных с реализацией операций CRUD (</a:t>
            </a:r>
            <a:r>
              <a:rPr lang="ru-RU" dirty="0" err="1"/>
              <a:t>Create</a:t>
            </a:r>
            <a:r>
              <a:rPr lang="ru-RU" dirty="0"/>
              <a:t>, </a:t>
            </a:r>
            <a:r>
              <a:rPr lang="ru-RU" dirty="0" err="1"/>
              <a:t>Read</a:t>
            </a:r>
            <a:r>
              <a:rPr lang="ru-RU" dirty="0"/>
              <a:t>, </a:t>
            </a:r>
            <a:r>
              <a:rPr lang="ru-RU" dirty="0" err="1"/>
              <a:t>Update</a:t>
            </a:r>
            <a:r>
              <a:rPr lang="ru-RU" dirty="0"/>
              <a:t>, </a:t>
            </a:r>
            <a:r>
              <a:rPr lang="ru-RU" dirty="0" err="1"/>
              <a:t>Delete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547446" y="3706283"/>
            <a:ext cx="495886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Задачи: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Выполнить анализ предметной </a:t>
            </a:r>
            <a:r>
              <a:rPr lang="ru-RU" dirty="0" smtClean="0"/>
              <a:t>области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Выделить объекты и </a:t>
            </a:r>
            <a:r>
              <a:rPr lang="ru-RU" dirty="0" smtClean="0"/>
              <a:t>атрибуты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Спроектировать и нормализовать </a:t>
            </a:r>
            <a:r>
              <a:rPr lang="ru-RU" dirty="0" smtClean="0"/>
              <a:t>БД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Реализовать БД в СУБД (1000+ </a:t>
            </a:r>
            <a:r>
              <a:rPr lang="ru-RU" dirty="0" smtClean="0"/>
              <a:t>записей)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Создать приложение с </a:t>
            </a:r>
            <a:r>
              <a:rPr lang="en-US" dirty="0"/>
              <a:t>CRUD-</a:t>
            </a:r>
            <a:r>
              <a:rPr lang="ru-RU" dirty="0" smtClean="0"/>
              <a:t>операциями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Реализовать уровни доступа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476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Варианты </a:t>
            </a:r>
            <a:r>
              <a:rPr lang="ru-RU" dirty="0"/>
              <a:t>использования системы</a:t>
            </a:r>
          </a:p>
        </p:txBody>
      </p:sp>
      <p:pic>
        <p:nvPicPr>
          <p:cNvPr id="3" name="Рисунок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5"/>
          <a:stretch/>
        </p:blipFill>
        <p:spPr bwMode="auto">
          <a:xfrm>
            <a:off x="6837485" y="1534258"/>
            <a:ext cx="2693377" cy="50775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96915" y="1635369"/>
            <a:ext cx="385103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 smtClean="0"/>
              <a:t>Акторы</a:t>
            </a:r>
            <a:r>
              <a:rPr lang="ru-RU" sz="2400" dirty="0" smtClean="0"/>
              <a:t>: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/>
              <a:t>Администратор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/>
              <a:t>Сотрудник администрации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/>
              <a:t>Арендатор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081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2063" y="624110"/>
            <a:ext cx="8911687" cy="1280890"/>
          </a:xfrm>
        </p:spPr>
        <p:txBody>
          <a:bodyPr/>
          <a:lstStyle/>
          <a:p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740877" y="1745425"/>
            <a:ext cx="255856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База данных:</a:t>
            </a:r>
          </a:p>
          <a:p>
            <a:r>
              <a:rPr lang="ru-RU" dirty="0" smtClean="0"/>
              <a:t>Таблиц(9):</a:t>
            </a:r>
          </a:p>
          <a:p>
            <a:r>
              <a:rPr lang="en-US" dirty="0" smtClean="0"/>
              <a:t>P</a:t>
            </a:r>
            <a:r>
              <a:rPr lang="ru-RU" dirty="0" err="1" smtClean="0"/>
              <a:t>ositions</a:t>
            </a:r>
            <a:endParaRPr lang="ru-RU" dirty="0" smtClean="0"/>
          </a:p>
          <a:p>
            <a:r>
              <a:rPr lang="en-US" dirty="0" smtClean="0"/>
              <a:t>E</a:t>
            </a:r>
            <a:r>
              <a:rPr lang="ru-RU" dirty="0" err="1" smtClean="0"/>
              <a:t>mployees</a:t>
            </a:r>
            <a:endParaRPr lang="ru-RU" dirty="0" smtClean="0"/>
          </a:p>
          <a:p>
            <a:r>
              <a:rPr lang="en-US" dirty="0" smtClean="0"/>
              <a:t>U</a:t>
            </a:r>
            <a:r>
              <a:rPr lang="ru-RU" dirty="0" err="1" smtClean="0"/>
              <a:t>sers</a:t>
            </a:r>
            <a:endParaRPr lang="ru-RU" dirty="0" smtClean="0"/>
          </a:p>
          <a:p>
            <a:r>
              <a:rPr lang="en-US" dirty="0" smtClean="0"/>
              <a:t>O</a:t>
            </a:r>
            <a:r>
              <a:rPr lang="ru-RU" dirty="0" err="1" smtClean="0"/>
              <a:t>bjects</a:t>
            </a:r>
            <a:endParaRPr lang="ru-RU" dirty="0" smtClean="0"/>
          </a:p>
          <a:p>
            <a:r>
              <a:rPr lang="en-US" dirty="0" smtClean="0"/>
              <a:t>T</a:t>
            </a:r>
            <a:r>
              <a:rPr lang="ru-RU" dirty="0" err="1" smtClean="0"/>
              <a:t>enants</a:t>
            </a:r>
            <a:endParaRPr lang="ru-RU" dirty="0" smtClean="0"/>
          </a:p>
          <a:p>
            <a:r>
              <a:rPr lang="en-US" dirty="0" smtClean="0"/>
              <a:t>C</a:t>
            </a:r>
            <a:r>
              <a:rPr lang="ru-RU" dirty="0" err="1" smtClean="0"/>
              <a:t>ontracts</a:t>
            </a:r>
            <a:endParaRPr lang="ru-RU" dirty="0" smtClean="0"/>
          </a:p>
          <a:p>
            <a:r>
              <a:rPr lang="en-US" dirty="0" smtClean="0"/>
              <a:t>P</a:t>
            </a:r>
            <a:r>
              <a:rPr lang="ru-RU" dirty="0" err="1" smtClean="0"/>
              <a:t>ayments</a:t>
            </a:r>
            <a:endParaRPr lang="ru-RU" dirty="0" smtClean="0"/>
          </a:p>
          <a:p>
            <a:r>
              <a:rPr lang="ru-RU" dirty="0" err="1"/>
              <a:t>audit_log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734" y="1745425"/>
            <a:ext cx="5992370" cy="457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3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43655" y="729617"/>
            <a:ext cx="8911687" cy="1280890"/>
          </a:xfrm>
        </p:spPr>
        <p:txBody>
          <a:bodyPr/>
          <a:lstStyle/>
          <a:p>
            <a:r>
              <a:rPr lang="ru-RU" dirty="0" smtClean="0"/>
              <a:t>Пример Запроса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206869" y="1749670"/>
            <a:ext cx="39565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Запросы: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Свободные </a:t>
            </a:r>
            <a:r>
              <a:rPr lang="ru-RU" dirty="0" smtClean="0"/>
              <a:t>объекты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Поступления по месяцам (отчёт для бухгалтерии</a:t>
            </a:r>
            <a:r>
              <a:rPr lang="ru-RU" dirty="0" smtClean="0"/>
              <a:t>)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/>
              <a:t>Активные </a:t>
            </a:r>
            <a:r>
              <a:rPr lang="ru-RU" dirty="0" smtClean="0"/>
              <a:t>договоры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06869" y="3648780"/>
            <a:ext cx="2221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 CYR" panose="02020603050405020304" pitchFamily="18" charset="0"/>
                <a:ea typeface="Times New Roman" panose="02020603050405020304" pitchFamily="18" charset="0"/>
              </a:rPr>
              <a:t>Свободные объекты: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206869" y="392335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SELECT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id_object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 AS '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Код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',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address AS '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Адрес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',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type AS '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Тип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',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err="1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total_area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 AS '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Площадь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 err="1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кв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)',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purpose AS '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Назначение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',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condition AS '</a:t>
            </a:r>
            <a:r>
              <a:rPr lang="ru-RU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Состояние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'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FROM objects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WHERE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is_rented_now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 = 0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ORDER BY type, </a:t>
            </a:r>
            <a:r>
              <a:rPr lang="en-US" dirty="0" err="1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total_area</a:t>
            </a:r>
            <a:r>
              <a:rPr lang="en-US" dirty="0" smtClean="0">
                <a:solidFill>
                  <a:srgbClr val="000000"/>
                </a:solidFill>
                <a:effectLst/>
                <a:latin typeface="Times New Roman CYR" panose="02020603050405020304" pitchFamily="18" charset="0"/>
                <a:ea typeface="Times New Roman" panose="02020603050405020304" pitchFamily="18" charset="0"/>
              </a:rPr>
              <a:t> DESC;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040" y="2356780"/>
            <a:ext cx="5747460" cy="332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7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2057544"/>
          </a:xfrm>
        </p:spPr>
        <p:txBody>
          <a:bodyPr>
            <a:noAutofit/>
          </a:bodyPr>
          <a:lstStyle/>
          <a:p>
            <a:pPr lvl="0"/>
            <a:r>
              <a:rPr lang="ru-RU" dirty="0"/>
              <a:t>Выполнение резервного копирования БД и восстановление состояния БД на заданную </a:t>
            </a:r>
            <a:r>
              <a:rPr lang="ru-RU" dirty="0" smtClean="0"/>
              <a:t>дату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99820" y="2681654"/>
            <a:ext cx="4963160" cy="3639820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738" y="2681653"/>
            <a:ext cx="4719588" cy="363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1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ru-RU" dirty="0" smtClean="0"/>
              <a:t>приложения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72561" y="1860840"/>
            <a:ext cx="9847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Технологии: </a:t>
            </a:r>
            <a:r>
              <a:rPr lang="en-US" dirty="0" smtClean="0"/>
              <a:t>SQL </a:t>
            </a:r>
            <a:r>
              <a:rPr lang="en-US" dirty="0"/>
              <a:t>Server Management </a:t>
            </a:r>
            <a:r>
              <a:rPr lang="en-US" dirty="0" smtClean="0"/>
              <a:t>Studio 22;</a:t>
            </a:r>
            <a:r>
              <a:rPr lang="en-US" b="1" dirty="0"/>
              <a:t> Visual Studio </a:t>
            </a:r>
            <a:r>
              <a:rPr lang="en-US" b="1" dirty="0" smtClean="0"/>
              <a:t>2026(WPF;</a:t>
            </a:r>
            <a:r>
              <a:rPr lang="en-US" b="1" dirty="0"/>
              <a:t> C# (.NET</a:t>
            </a:r>
            <a:r>
              <a:rPr lang="en-US" b="1" dirty="0" smtClean="0"/>
              <a:t>))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62709" y="2977950"/>
            <a:ext cx="70250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Арендатор – </a:t>
            </a:r>
            <a:r>
              <a:rPr lang="ru-RU" dirty="0"/>
              <a:t>Просмотр своих договоров и </a:t>
            </a:r>
            <a:r>
              <a:rPr lang="ru-RU" dirty="0" smtClean="0"/>
              <a:t>платежей</a:t>
            </a:r>
          </a:p>
          <a:p>
            <a:endParaRPr lang="ru-RU" dirty="0" smtClean="0"/>
          </a:p>
          <a:p>
            <a:r>
              <a:rPr lang="ru-RU" dirty="0" smtClean="0"/>
              <a:t>Сотрудник – </a:t>
            </a:r>
            <a:r>
              <a:rPr lang="ru-RU" dirty="0"/>
              <a:t>Просмотр всех договоров, объектов, арендаторов, платежей. Поиск. </a:t>
            </a:r>
            <a:r>
              <a:rPr lang="ru-RU" dirty="0" smtClean="0"/>
              <a:t>Отчёты</a:t>
            </a:r>
          </a:p>
          <a:p>
            <a:endParaRPr lang="ru-RU" dirty="0" smtClean="0"/>
          </a:p>
          <a:p>
            <a:r>
              <a:rPr lang="ru-RU" dirty="0" smtClean="0"/>
              <a:t>Администратор – </a:t>
            </a:r>
            <a:r>
              <a:rPr lang="ru-RU" dirty="0"/>
              <a:t>Полный CRUD над всеми таблицами. Управление пользователями. Журнал аудита</a:t>
            </a:r>
            <a:endParaRPr lang="ru-RU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62709" y="2479431"/>
            <a:ext cx="334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Функции: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481" y="2977950"/>
            <a:ext cx="5175519" cy="29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1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8156" y="527394"/>
            <a:ext cx="8911687" cy="1280890"/>
          </a:xfrm>
        </p:spPr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24708" y="1313128"/>
            <a:ext cx="1004374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31800">
              <a:lnSpc>
                <a:spcPct val="150000"/>
              </a:lnSpc>
              <a:spcAft>
                <a:spcPts val="0"/>
              </a:spcAft>
            </a:pPr>
            <a:r>
              <a:rPr lang="ru-RU" dirty="0"/>
              <a:t>В ходе прохождения производственной практики по профессиональному модулю ПМ.11 «Разработка, администрирование и защита баз данных» была успешно выполнена работа по созданию информационной системы «Учёт аренды муниципального имущества» для администрации города Слободского Кировской области.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19200" y="3482953"/>
            <a:ext cx="1014925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31800">
              <a:lnSpc>
                <a:spcPct val="150000"/>
              </a:lnSpc>
            </a:pPr>
            <a:r>
              <a:rPr lang="ru-RU" dirty="0"/>
              <a:t>Спроектирована и реализована реляционная база данных (9 таблиц, более 1000 записей), разработано WPF-приложение с разграничением прав доступа для трёх ролей (администратор, сотрудник и арендатор). Реализованы CRUD-операции,</a:t>
            </a:r>
          </a:p>
        </p:txBody>
      </p:sp>
    </p:spTree>
    <p:extLst>
      <p:ext uri="{BB962C8B-B14F-4D97-AF65-F5344CB8AC3E}">
        <p14:creationId xmlns:p14="http://schemas.microsoft.com/office/powerpoint/2010/main" val="23271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2439" y="2866148"/>
            <a:ext cx="8911687" cy="1280890"/>
          </a:xfrm>
        </p:spPr>
        <p:txBody>
          <a:bodyPr>
            <a:normAutofit/>
          </a:bodyPr>
          <a:lstStyle/>
          <a:p>
            <a:r>
              <a:rPr lang="ru-RU" sz="6000" dirty="0" smtClean="0"/>
              <a:t>Спасибо за внимание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171642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111</TotalTime>
  <Words>354</Words>
  <Application>Microsoft Office PowerPoint</Application>
  <PresentationFormat>Широкоэкранный</PresentationFormat>
  <Paragraphs>69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Times New Roman CYR</vt:lpstr>
      <vt:lpstr>Wingdings 3</vt:lpstr>
      <vt:lpstr>Легкий дым</vt:lpstr>
      <vt:lpstr>ПМ 11 Разработка, администрирование и защита баз данных</vt:lpstr>
      <vt:lpstr>Анализ предметной области</vt:lpstr>
      <vt:lpstr>Цели и Задачи</vt:lpstr>
      <vt:lpstr>Варианты использования системы</vt:lpstr>
      <vt:lpstr>База данных</vt:lpstr>
      <vt:lpstr>Пример Запроса</vt:lpstr>
      <vt:lpstr>Выполнение резервного копирования БД и восстановление состояния БД на заданную дату</vt:lpstr>
      <vt:lpstr>Реализация приложения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ПМ 11 Разработка, администрирование и защита баз данных</dc:title>
  <dc:creator>Вова</dc:creator>
  <cp:lastModifiedBy>Вова</cp:lastModifiedBy>
  <cp:revision>9</cp:revision>
  <dcterms:created xsi:type="dcterms:W3CDTF">2026-05-25T16:30:46Z</dcterms:created>
  <dcterms:modified xsi:type="dcterms:W3CDTF">2026-05-25T18:22:20Z</dcterms:modified>
</cp:coreProperties>
</file>